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6858000" cy="9144000"/>
  <p:embeddedFontLst>
    <p:embeddedFont>
      <p:font typeface="Lexend Deca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LexendDeca-bold.fntdata"/><Relationship Id="rId12" Type="http://schemas.openxmlformats.org/officeDocument/2006/relationships/font" Target="fonts/LexendDeca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f391192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f391192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d461648bb0_0_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d461648bb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5f391192_0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5f391192_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d461648bb0_0_1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d461648bb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4681daecc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4681daec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5f391192_0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5f391192_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25"/>
            <a:ext cx="914395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685800" y="1991825"/>
            <a:ext cx="4539000" cy="115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/>
          <p:nvPr>
            <p:ph type="ctrTitle"/>
          </p:nvPr>
        </p:nvSpPr>
        <p:spPr>
          <a:xfrm>
            <a:off x="685800" y="1659550"/>
            <a:ext cx="4263900" cy="11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685800" y="2916254"/>
            <a:ext cx="4263900" cy="7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/>
          <p:nvPr/>
        </p:nvSpPr>
        <p:spPr>
          <a:xfrm>
            <a:off x="42525" y="42525"/>
            <a:ext cx="2000100" cy="2000100"/>
          </a:xfrm>
          <a:prstGeom prst="ellipse">
            <a:avLst/>
          </a:prstGeom>
          <a:gradFill>
            <a:gsLst>
              <a:gs pos="0">
                <a:srgbClr val="00FFFF">
                  <a:alpha val="54117"/>
                </a:srgbClr>
              </a:gs>
              <a:gs pos="73000">
                <a:srgbClr val="00FFFF">
                  <a:alpha val="0"/>
                </a:srgbClr>
              </a:gs>
              <a:gs pos="100000">
                <a:srgbClr val="00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343850" y="866400"/>
            <a:ext cx="4185600" cy="36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Font typeface="Lexend Deca"/>
              <a:buChar char="⬡"/>
              <a:defRPr sz="3000">
                <a:latin typeface="Lexend Deca"/>
                <a:ea typeface="Lexend Deca"/>
                <a:cs typeface="Lexend Deca"/>
                <a:sym typeface="Lexend Deca"/>
              </a:defRPr>
            </a:lvl1pPr>
            <a:lvl2pPr indent="-419100" lvl="1" marL="9144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∙"/>
              <a:defRPr sz="3000">
                <a:latin typeface="Lexend Deca"/>
                <a:ea typeface="Lexend Deca"/>
                <a:cs typeface="Lexend Deca"/>
                <a:sym typeface="Lexend Deca"/>
              </a:defRPr>
            </a:lvl2pPr>
            <a:lvl3pPr indent="-419100" lvl="2" marL="13716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∙"/>
              <a:defRPr sz="3000">
                <a:latin typeface="Lexend Deca"/>
                <a:ea typeface="Lexend Deca"/>
                <a:cs typeface="Lexend Deca"/>
                <a:sym typeface="Lexend Deca"/>
              </a:defRPr>
            </a:lvl3pPr>
            <a:lvl4pPr indent="-419100" lvl="3" marL="18288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●"/>
              <a:defRPr sz="3000">
                <a:latin typeface="Lexend Deca"/>
                <a:ea typeface="Lexend Deca"/>
                <a:cs typeface="Lexend Deca"/>
                <a:sym typeface="Lexend Deca"/>
              </a:defRPr>
            </a:lvl4pPr>
            <a:lvl5pPr indent="-419100" lvl="4" marL="22860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○"/>
              <a:defRPr sz="3000">
                <a:latin typeface="Lexend Deca"/>
                <a:ea typeface="Lexend Deca"/>
                <a:cs typeface="Lexend Deca"/>
                <a:sym typeface="Lexend Deca"/>
              </a:defRPr>
            </a:lvl5pPr>
            <a:lvl6pPr indent="-419100" lvl="5" marL="27432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■"/>
              <a:defRPr sz="3000">
                <a:latin typeface="Lexend Deca"/>
                <a:ea typeface="Lexend Deca"/>
                <a:cs typeface="Lexend Deca"/>
                <a:sym typeface="Lexend Deca"/>
              </a:defRPr>
            </a:lvl6pPr>
            <a:lvl7pPr indent="-419100" lvl="6" marL="32004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●"/>
              <a:defRPr sz="3000">
                <a:latin typeface="Lexend Deca"/>
                <a:ea typeface="Lexend Deca"/>
                <a:cs typeface="Lexend Deca"/>
                <a:sym typeface="Lexend Deca"/>
              </a:defRPr>
            </a:lvl7pPr>
            <a:lvl8pPr indent="-419100" lvl="7" marL="36576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○"/>
              <a:defRPr sz="3000">
                <a:latin typeface="Lexend Deca"/>
                <a:ea typeface="Lexend Deca"/>
                <a:cs typeface="Lexend Deca"/>
                <a:sym typeface="Lexend Deca"/>
              </a:defRPr>
            </a:lvl8pPr>
            <a:lvl9pPr indent="-419100" lvl="8" marL="411480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■"/>
              <a:defRPr sz="3000"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20" name="Google Shape;20;p4"/>
          <p:cNvSpPr txBox="1"/>
          <p:nvPr/>
        </p:nvSpPr>
        <p:spPr>
          <a:xfrm>
            <a:off x="826414" y="656117"/>
            <a:ext cx="6138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“</a:t>
            </a:r>
            <a:endParaRPr sz="72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 txBox="1"/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580550" y="1352550"/>
            <a:ext cx="6014400" cy="31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SzPts val="2400"/>
              <a:buChar char="⬡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∙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∙"/>
              <a:defRPr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6"/>
          <p:cNvSpPr txBox="1"/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" type="body"/>
          </p:nvPr>
        </p:nvSpPr>
        <p:spPr>
          <a:xfrm>
            <a:off x="580550" y="1352550"/>
            <a:ext cx="2841000" cy="315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⬡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31" name="Google Shape;31;p6"/>
          <p:cNvSpPr txBox="1"/>
          <p:nvPr>
            <p:ph idx="2" type="body"/>
          </p:nvPr>
        </p:nvSpPr>
        <p:spPr>
          <a:xfrm>
            <a:off x="3753943" y="1352550"/>
            <a:ext cx="2841000" cy="315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⬡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7"/>
          <p:cNvSpPr txBox="1"/>
          <p:nvPr>
            <p:ph type="title"/>
          </p:nvPr>
        </p:nvSpPr>
        <p:spPr>
          <a:xfrm>
            <a:off x="580550" y="205975"/>
            <a:ext cx="64056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580550" y="1352550"/>
            <a:ext cx="2005800" cy="32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⬡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7" name="Google Shape;37;p7"/>
          <p:cNvSpPr txBox="1"/>
          <p:nvPr>
            <p:ph idx="2" type="body"/>
          </p:nvPr>
        </p:nvSpPr>
        <p:spPr>
          <a:xfrm>
            <a:off x="2780447" y="1352550"/>
            <a:ext cx="2005800" cy="32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⬡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8" name="Google Shape;38;p7"/>
          <p:cNvSpPr txBox="1"/>
          <p:nvPr>
            <p:ph idx="3" type="body"/>
          </p:nvPr>
        </p:nvSpPr>
        <p:spPr>
          <a:xfrm>
            <a:off x="4980344" y="1352550"/>
            <a:ext cx="2005800" cy="32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⬡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8"/>
          <p:cNvSpPr txBox="1"/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9"/>
          <p:cNvSpPr txBox="1"/>
          <p:nvPr>
            <p:ph idx="1" type="body"/>
          </p:nvPr>
        </p:nvSpPr>
        <p:spPr>
          <a:xfrm>
            <a:off x="580550" y="4406300"/>
            <a:ext cx="6135900" cy="5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360"/>
              </a:spcBef>
              <a:spcAft>
                <a:spcPts val="0"/>
              </a:spcAft>
              <a:buSzPts val="1400"/>
              <a:buNone/>
              <a:defRPr sz="1400"/>
            </a:lvl1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· Small circuit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· Big circuit">
  <p:cSld name="BLANK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gradFill>
          <a:gsLst>
            <a:gs pos="0">
              <a:srgbClr val="A458FF"/>
            </a:gs>
            <a:gs pos="39000">
              <a:srgbClr val="3544FF"/>
            </a:gs>
            <a:gs pos="100000">
              <a:srgbClr val="0A2F9E"/>
            </a:gs>
          </a:gsLst>
          <a:lin ang="8100019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b="1" sz="32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b="1" sz="32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b="1" sz="32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b="1" sz="32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b="1" sz="32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b="1" sz="32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b="1" sz="32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b="1" sz="32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b="1" sz="32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80550" y="1352550"/>
            <a:ext cx="6014400" cy="3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Muli"/>
              <a:buChar char="⬡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1pPr>
            <a:lvl2pPr indent="-3810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2pPr>
            <a:lvl3pPr indent="-3810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3pPr>
            <a:lvl4pPr indent="-3810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4pPr>
            <a:lvl5pPr indent="-3810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5pPr>
            <a:lvl6pPr indent="-3810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6pPr>
            <a:lvl7pPr indent="-3810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7pPr>
            <a:lvl8pPr indent="-3810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8pPr>
            <a:lvl9pPr indent="-3810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9.png"/><Relationship Id="rId7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type="ctrTitle"/>
          </p:nvPr>
        </p:nvSpPr>
        <p:spPr>
          <a:xfrm>
            <a:off x="685800" y="1991825"/>
            <a:ext cx="4539000" cy="115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Bafômetro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Sensor MQ-3 </a:t>
            </a:r>
            <a:endParaRPr/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0925" y="1104881"/>
            <a:ext cx="1782850" cy="203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0814" y="378324"/>
            <a:ext cx="662500" cy="72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93770" y="884611"/>
            <a:ext cx="482075" cy="52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21692" y="4034576"/>
            <a:ext cx="586165" cy="68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404399" y="3624439"/>
            <a:ext cx="321850" cy="44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664593" y="3757882"/>
            <a:ext cx="321850" cy="44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Sensor</a:t>
            </a:r>
            <a:endParaRPr/>
          </a:p>
        </p:txBody>
      </p:sp>
      <p:sp>
        <p:nvSpPr>
          <p:cNvPr id="72" name="Google Shape;72;p14"/>
          <p:cNvSpPr txBox="1"/>
          <p:nvPr>
            <p:ph idx="1" type="body"/>
          </p:nvPr>
        </p:nvSpPr>
        <p:spPr>
          <a:xfrm>
            <a:off x="580550" y="1395300"/>
            <a:ext cx="4781700" cy="311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⬡"/>
            </a:pPr>
            <a:r>
              <a:rPr lang="en"/>
              <a:t>Sensor de Gás que detecta vapores de álcool no ambiente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⬡"/>
            </a:pPr>
            <a:r>
              <a:rPr lang="en"/>
              <a:t>Muito sensível 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"/>
              <a:t>Resistência interna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⬡"/>
            </a:pPr>
            <a:r>
              <a:rPr lang="en"/>
              <a:t>Faixa de detecção: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"/>
              <a:t>0,05 mg/L a 10 mg/L.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"/>
              <a:t>Fornece um N° de 0 a 1023</a:t>
            </a:r>
            <a:endParaRPr/>
          </a:p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9750" y="1162825"/>
            <a:ext cx="1589950" cy="269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580550" y="151275"/>
            <a:ext cx="60144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Sensor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580550" y="1193050"/>
            <a:ext cx="5354700" cy="355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⬡"/>
            </a:pPr>
            <a:r>
              <a:rPr lang="en"/>
              <a:t>Sensor Analógico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⬡"/>
            </a:pPr>
            <a:r>
              <a:rPr lang="en"/>
              <a:t>Utiliza três fios para a conexão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"/>
              <a:t>VCC (5V)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"/>
              <a:t>GND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"/>
              <a:t>Saída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⬡"/>
            </a:pPr>
            <a:r>
              <a:rPr lang="en"/>
              <a:t>Duas saídas: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"/>
              <a:t>Saída digital: Retorna HIGH ou LOW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"/>
              <a:t>Saída analógica: Fornece uma tensão proporcional à concentração de álcool</a:t>
            </a:r>
            <a:endParaRPr/>
          </a:p>
        </p:txBody>
      </p:sp>
      <p:sp>
        <p:nvSpPr>
          <p:cNvPr id="81" name="Google Shape;81;p15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2" name="Google Shape;8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5300" y="1395300"/>
            <a:ext cx="2997425" cy="212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idx="4294967295" type="ctrTitle"/>
          </p:nvPr>
        </p:nvSpPr>
        <p:spPr>
          <a:xfrm>
            <a:off x="230275" y="1024250"/>
            <a:ext cx="5181000" cy="928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Vantagens</a:t>
            </a:r>
            <a:endParaRPr sz="7200"/>
          </a:p>
        </p:txBody>
      </p:sp>
      <p:sp>
        <p:nvSpPr>
          <p:cNvPr id="88" name="Google Shape;88;p16"/>
          <p:cNvSpPr txBox="1"/>
          <p:nvPr>
            <p:ph idx="4294967295" type="subTitle"/>
          </p:nvPr>
        </p:nvSpPr>
        <p:spPr>
          <a:xfrm>
            <a:off x="368275" y="2215025"/>
            <a:ext cx="5457300" cy="17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⬡"/>
            </a:pPr>
            <a:r>
              <a:rPr b="1" lang="en" sz="1800"/>
              <a:t>Custo baixo</a:t>
            </a:r>
            <a:endParaRPr b="1"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∙"/>
            </a:pPr>
            <a:r>
              <a:rPr b="1" lang="en" sz="1800"/>
              <a:t>Acessível para medir concentração de álcool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⬡"/>
            </a:pPr>
            <a:r>
              <a:rPr b="1" lang="en" sz="1800"/>
              <a:t>Facíl de usar</a:t>
            </a:r>
            <a:endParaRPr b="1" sz="1800"/>
          </a:p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idx="4294967295" type="ctrTitle"/>
          </p:nvPr>
        </p:nvSpPr>
        <p:spPr>
          <a:xfrm>
            <a:off x="230275" y="1024250"/>
            <a:ext cx="6644400" cy="928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Desvantagens</a:t>
            </a:r>
            <a:endParaRPr sz="7200"/>
          </a:p>
        </p:txBody>
      </p:sp>
      <p:sp>
        <p:nvSpPr>
          <p:cNvPr id="95" name="Google Shape;95;p17"/>
          <p:cNvSpPr txBox="1"/>
          <p:nvPr>
            <p:ph idx="4294967295" type="subTitle"/>
          </p:nvPr>
        </p:nvSpPr>
        <p:spPr>
          <a:xfrm>
            <a:off x="368275" y="2215025"/>
            <a:ext cx="5457300" cy="17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⬡"/>
            </a:pPr>
            <a:r>
              <a:rPr b="1" lang="en" sz="1800"/>
              <a:t>Sensibilidade à umidade e temperatura</a:t>
            </a:r>
            <a:endParaRPr b="1"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∙"/>
            </a:pPr>
            <a:r>
              <a:rPr b="1" lang="en" sz="1800"/>
              <a:t>Mudanças na temperatura e umidade podem afetar a precisão das leituras.</a:t>
            </a:r>
            <a:br>
              <a:rPr b="1" lang="en" sz="1800"/>
            </a:b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⬡"/>
            </a:pPr>
            <a:r>
              <a:rPr b="1" lang="en" sz="1800"/>
              <a:t>OBRIGATÓRIA A CALIBRAÇÃO</a:t>
            </a:r>
            <a:endParaRPr b="1"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∙"/>
            </a:pPr>
            <a:r>
              <a:rPr b="1" lang="en" sz="1800"/>
              <a:t>Sensor analógico!</a:t>
            </a:r>
            <a:endParaRPr b="1" sz="1800"/>
          </a:p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idx="4294967295" type="ctrTitle"/>
          </p:nvPr>
        </p:nvSpPr>
        <p:spPr>
          <a:xfrm>
            <a:off x="175550" y="299225"/>
            <a:ext cx="6644400" cy="928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Circuito</a:t>
            </a:r>
            <a:endParaRPr sz="7200"/>
          </a:p>
        </p:txBody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1775" y="1227725"/>
            <a:ext cx="4727272" cy="361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1343850" y="866400"/>
            <a:ext cx="4185600" cy="36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PRÁTICA!!!</a:t>
            </a:r>
            <a:endParaRPr/>
          </a:p>
        </p:txBody>
      </p:sp>
      <p:sp>
        <p:nvSpPr>
          <p:cNvPr id="109" name="Google Shape;109;p19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liena template">
  <a:themeElements>
    <a:clrScheme name="Custom 347">
      <a:dk1>
        <a:srgbClr val="050060"/>
      </a:dk1>
      <a:lt1>
        <a:srgbClr val="FFFFFF"/>
      </a:lt1>
      <a:dk2>
        <a:srgbClr val="585963"/>
      </a:dk2>
      <a:lt2>
        <a:srgbClr val="F3F3F3"/>
      </a:lt2>
      <a:accent1>
        <a:srgbClr val="0A2F9E"/>
      </a:accent1>
      <a:accent2>
        <a:srgbClr val="3544FF"/>
      </a:accent2>
      <a:accent3>
        <a:srgbClr val="24D6FF"/>
      </a:accent3>
      <a:accent4>
        <a:srgbClr val="00FFFF"/>
      </a:accent4>
      <a:accent5>
        <a:srgbClr val="A458FF"/>
      </a:accent5>
      <a:accent6>
        <a:srgbClr val="D392FF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